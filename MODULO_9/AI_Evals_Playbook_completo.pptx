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71" r:id="rId21"/>
    <p:sldId id="272" r:id="rId22"/>
    <p:sldId id="257" r:id="rId7"/>
    <p:sldId id="273" r:id="rId23"/>
    <p:sldId id="274" r:id="rId24"/>
    <p:sldId id="275" r:id="rId25"/>
    <p:sldId id="276" r:id="rId26"/>
    <p:sldId id="277" r:id="rId27"/>
    <p:sldId id="278" r:id="rId28"/>
    <p:sldId id="258" r:id="rId8"/>
    <p:sldId id="259" r:id="rId9"/>
    <p:sldId id="260" r:id="rId10"/>
    <p:sldId id="279" r:id="rId29"/>
    <p:sldId id="280" r:id="rId30"/>
    <p:sldId id="261" r:id="rId11"/>
    <p:sldId id="281" r:id="rId31"/>
    <p:sldId id="282" r:id="rId32"/>
    <p:sldId id="262" r:id="rId12"/>
    <p:sldId id="263" r:id="rId13"/>
    <p:sldId id="264" r:id="rId14"/>
    <p:sldId id="283" r:id="rId33"/>
    <p:sldId id="284" r:id="rId34"/>
    <p:sldId id="285" r:id="rId35"/>
    <p:sldId id="265" r:id="rId15"/>
    <p:sldId id="266" r:id="rId16"/>
    <p:sldId id="267" r:id="rId17"/>
    <p:sldId id="268" r:id="rId18"/>
    <p:sldId id="286" r:id="rId36"/>
    <p:sldId id="287" r:id="rId37"/>
    <p:sldId id="288" r:id="rId38"/>
    <p:sldId id="289" r:id="rId39"/>
    <p:sldId id="269" r:id="rId19"/>
    <p:sldId id="290" r:id="rId40"/>
    <p:sldId id="270" r:id="rId2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46100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200" b="1">
                <a:solidFill>
                  <a:srgbClr val="1E293B"/>
                </a:solidFill>
                <a:latin typeface="Calibri"/>
              </a:rPr>
              <a:t>Qué vamos a 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4610080" cy="6766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0">
                <a:solidFill>
                  <a:srgbClr val="1E293B"/>
                </a:solidFill>
                <a:latin typeface="Calibri"/>
              </a:rPr>
              <a:t>•  </a:t>
            </a:r>
            <a:r>
              <a:rPr sz="3400" b="1">
                <a:solidFill>
                  <a:srgbClr val="1E293B"/>
                </a:solidFill>
                <a:latin typeface="Calibri"/>
              </a:rPr>
              <a:t>Por qué evaluar</a:t>
            </a:r>
            <a:r>
              <a:rPr sz="3400" b="0">
                <a:solidFill>
                  <a:srgbClr val="1E293B"/>
                </a:solidFill>
                <a:latin typeface="Calibri"/>
              </a:rPr>
              <a:t> IA generativa y qué es un eval</a:t>
            </a:r>
          </a:p>
          <a:p>
            <a:pPr>
              <a:spcAft>
                <a:spcPts val="1000"/>
              </a:spcAft>
            </a:pPr>
            <a:r>
              <a:rPr sz="3400" b="0">
                <a:solidFill>
                  <a:srgbClr val="1E293B"/>
                </a:solidFill>
                <a:latin typeface="Calibri"/>
              </a:rPr>
              <a:t>•  </a:t>
            </a:r>
            <a:r>
              <a:rPr sz="3400" b="1">
                <a:solidFill>
                  <a:srgbClr val="1E293B"/>
                </a:solidFill>
                <a:latin typeface="Calibri"/>
              </a:rPr>
              <a:t>Los tres pasos:</a:t>
            </a:r>
            <a:r>
              <a:rPr sz="3400" b="0">
                <a:solidFill>
                  <a:srgbClr val="1E293B"/>
                </a:solidFill>
                <a:latin typeface="Calibri"/>
              </a:rPr>
              <a:t> tarea, datos y calificador</a:t>
            </a:r>
          </a:p>
          <a:p>
            <a:pPr>
              <a:spcAft>
                <a:spcPts val="1000"/>
              </a:spcAft>
            </a:pPr>
            <a:r>
              <a:rPr sz="3400" b="0">
                <a:solidFill>
                  <a:srgbClr val="1E293B"/>
                </a:solidFill>
                <a:latin typeface="Calibri"/>
              </a:rPr>
              <a:t>•  </a:t>
            </a:r>
            <a:r>
              <a:rPr sz="3400" b="1">
                <a:solidFill>
                  <a:srgbClr val="1E293B"/>
                </a:solidFill>
                <a:latin typeface="Calibri"/>
              </a:rPr>
              <a:t>Tipos de calificadores</a:t>
            </a:r>
            <a:r>
              <a:rPr sz="3400" b="0">
                <a:solidFill>
                  <a:srgbClr val="1E293B"/>
                </a:solidFill>
                <a:latin typeface="Calibri"/>
              </a:rPr>
              <a:t> y LLM como juez</a:t>
            </a:r>
          </a:p>
          <a:p>
            <a:pPr>
              <a:spcAft>
                <a:spcPts val="1000"/>
              </a:spcAft>
            </a:pPr>
            <a:r>
              <a:rPr sz="3400" b="0">
                <a:solidFill>
                  <a:srgbClr val="1E293B"/>
                </a:solidFill>
                <a:latin typeface="Calibri"/>
              </a:rPr>
              <a:t>•  </a:t>
            </a:r>
            <a:r>
              <a:rPr sz="3400" b="1">
                <a:solidFill>
                  <a:srgbClr val="1E293B"/>
                </a:solidFill>
                <a:latin typeface="Calibri"/>
              </a:rPr>
              <a:t>Tres ejemplos:</a:t>
            </a:r>
            <a:r>
              <a:rPr sz="3400" b="0">
                <a:solidFill>
                  <a:srgbClr val="1E293B"/>
                </a:solidFill>
                <a:latin typeface="Calibri"/>
              </a:rPr>
              <a:t> seguridad, RAG y agente de código</a:t>
            </a:r>
          </a:p>
          <a:p>
            <a:pPr>
              <a:spcAft>
                <a:spcPts val="1000"/>
              </a:spcAft>
            </a:pPr>
            <a:r>
              <a:rPr sz="3400" b="0">
                <a:solidFill>
                  <a:srgbClr val="1E293B"/>
                </a:solidFill>
                <a:latin typeface="Calibri"/>
              </a:rPr>
              <a:t>•  </a:t>
            </a:r>
            <a:r>
              <a:rPr sz="3400" b="1">
                <a:solidFill>
                  <a:srgbClr val="1E293B"/>
                </a:solidFill>
                <a:latin typeface="Calibri"/>
              </a:rPr>
              <a:t>Offline vs. online,</a:t>
            </a:r>
            <a:r>
              <a:rPr sz="3400" b="0">
                <a:solidFill>
                  <a:srgbClr val="1E293B"/>
                </a:solidFill>
                <a:latin typeface="Calibri"/>
              </a:rPr>
              <a:t> cómo empezar y qué mejorar</a:t>
            </a:r>
          </a:p>
          <a:p>
            <a:pPr>
              <a:spcAft>
                <a:spcPts val="1000"/>
              </a:spcAft>
            </a:pPr>
            <a:r>
              <a:rPr sz="3400" b="0">
                <a:solidFill>
                  <a:srgbClr val="1E293B"/>
                </a:solidFill>
                <a:latin typeface="Calibri"/>
              </a:rPr>
              <a:t>•  </a:t>
            </a:r>
            <a:r>
              <a:rPr sz="3400" b="1">
                <a:solidFill>
                  <a:srgbClr val="1E293B"/>
                </a:solidFill>
                <a:latin typeface="Calibri"/>
              </a:rPr>
              <a:t>Playground y experimentos,</a:t>
            </a:r>
            <a:r>
              <a:rPr sz="3400" b="0">
                <a:solidFill>
                  <a:srgbClr val="1E293B"/>
                </a:solidFill>
                <a:latin typeface="Calibri"/>
              </a:rPr>
              <a:t> y el sistema de evaluación completo</a:t>
            </a:r>
          </a:p>
          <a:p>
            <a:pPr>
              <a:spcAft>
                <a:spcPts val="1000"/>
              </a:spcAft>
            </a:pPr>
            <a:r>
              <a:rPr sz="3400" b="0">
                <a:solidFill>
                  <a:srgbClr val="1E293B"/>
                </a:solidFill>
                <a:latin typeface="Calibri"/>
              </a:rPr>
              <a:t>•  </a:t>
            </a:r>
            <a:r>
              <a:rPr sz="3400" b="1">
                <a:solidFill>
                  <a:srgbClr val="1E293B"/>
                </a:solidFill>
                <a:latin typeface="Calibri"/>
              </a:rPr>
              <a:t>Después:</a:t>
            </a:r>
            <a:r>
              <a:rPr sz="3400" b="0">
                <a:solidFill>
                  <a:srgbClr val="1E293B"/>
                </a:solidFill>
                <a:latin typeface="Calibri"/>
              </a:rPr>
              <a:t> correr evals desde código · producción y revisión humana · feedback de usuarios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46100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200" b="1">
                <a:solidFill>
                  <a:srgbClr val="1E293B"/>
                </a:solidFill>
                <a:latin typeface="Calibri"/>
              </a:rPr>
              <a:t>Los evals en el debate público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4610080" cy="6766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600" b="0">
                <a:solidFill>
                  <a:srgbClr val="1E293B"/>
                </a:solidFill>
                <a:latin typeface="Calibri"/>
              </a:rPr>
              <a:t>•  Escribir evals será una </a:t>
            </a:r>
            <a:r>
              <a:rPr sz="3600" b="1">
                <a:solidFill>
                  <a:srgbClr val="1E293B"/>
                </a:solidFill>
                <a:latin typeface="Calibri"/>
              </a:rPr>
              <a:t>habilidad central</a:t>
            </a:r>
            <a:r>
              <a:rPr sz="3600" b="0">
                <a:solidFill>
                  <a:srgbClr val="1E293B"/>
                </a:solidFill>
                <a:latin typeface="Calibri"/>
              </a:rPr>
              <a:t> para quien gestiona productos con IA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E293B"/>
                </a:solidFill>
                <a:latin typeface="Calibri"/>
              </a:rPr>
              <a:t>•  Es probablemente </a:t>
            </a:r>
            <a:r>
              <a:rPr sz="3600" b="1">
                <a:solidFill>
                  <a:srgbClr val="1E293B"/>
                </a:solidFill>
                <a:latin typeface="Calibri"/>
              </a:rPr>
              <a:t>lo más importante que se puede enseñar</a:t>
            </a:r>
            <a:r>
              <a:rPr sz="3600" b="0">
                <a:solidFill>
                  <a:srgbClr val="1E293B"/>
                </a:solidFill>
                <a:latin typeface="Calibri"/>
              </a:rPr>
              <a:t> a quien empieza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E293B"/>
                </a:solidFill>
                <a:latin typeface="Calibri"/>
              </a:rPr>
              <a:t>•  Son el verdadero </a:t>
            </a:r>
            <a:r>
              <a:rPr sz="3600" b="1">
                <a:solidFill>
                  <a:srgbClr val="1E293B"/>
                </a:solidFill>
                <a:latin typeface="Calibri"/>
              </a:rPr>
              <a:t>foso (moat)</a:t>
            </a:r>
            <a:r>
              <a:rPr sz="3600" b="0">
                <a:solidFill>
                  <a:srgbClr val="1E293B"/>
                </a:solidFill>
                <a:latin typeface="Calibri"/>
              </a:rPr>
              <a:t> de las startups de IA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E293B"/>
                </a:solidFill>
                <a:latin typeface="Calibri"/>
              </a:rPr>
              <a:t>•  «A menudo es todo lo que necesitás»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46100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200" b="1">
                <a:solidFill>
                  <a:srgbClr val="1E293B"/>
                </a:solidFill>
                <a:latin typeface="Calibri"/>
              </a:rPr>
              <a:t>¿Por qué evals? Ayudan a responder preguntas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011680"/>
            <a:ext cx="45720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2F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2F5D9B"/>
                </a:solidFill>
                <a:latin typeface="Calibri"/>
              </a:rPr>
              <a:t>Selección de modelo</a:t>
            </a:r>
          </a:p>
          <a:p>
            <a:pPr algn="ctr">
              <a:spcBef>
                <a:spcPts val="800"/>
              </a:spcBef>
            </a:pPr>
            <a:r>
              <a:rPr sz="2400">
                <a:solidFill>
                  <a:srgbClr val="1E293B"/>
                </a:solidFill>
                <a:latin typeface="Calibri"/>
              </a:rPr>
              <a:t>«¿Qué LLM es la mejor opción para nuestras necesidades?»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0" y="2011680"/>
            <a:ext cx="45720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2F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2F5D9B"/>
                </a:solidFill>
                <a:latin typeface="Calibri"/>
              </a:rPr>
              <a:t>Experiencia de usuario</a:t>
            </a:r>
          </a:p>
          <a:p>
            <a:pPr algn="ctr">
              <a:spcBef>
                <a:spcPts val="800"/>
              </a:spcBef>
            </a:pPr>
            <a:r>
              <a:rPr sz="2400">
                <a:solidFill>
                  <a:srgbClr val="1E293B"/>
                </a:solidFill>
                <a:latin typeface="Calibri"/>
              </a:rPr>
              <a:t>«¿Cómo se desempeña la IA en escenarios reales y diversos?»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98480" y="2011680"/>
            <a:ext cx="45720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2F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2F5D9B"/>
                </a:solidFill>
                <a:latin typeface="Calibri"/>
              </a:rPr>
              <a:t>Eficiencia de costos</a:t>
            </a:r>
          </a:p>
          <a:p>
            <a:pPr algn="ctr">
              <a:spcBef>
                <a:spcPts val="800"/>
              </a:spcBef>
            </a:pPr>
            <a:r>
              <a:rPr sz="2400">
                <a:solidFill>
                  <a:srgbClr val="1E293B"/>
                </a:solidFill>
                <a:latin typeface="Calibri"/>
              </a:rPr>
              <a:t>«¿Podemos lograr alto desempeño sin costos excesivos?»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212080"/>
            <a:ext cx="45720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2F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2F5D9B"/>
                </a:solidFill>
                <a:latin typeface="Calibri"/>
              </a:rPr>
              <a:t>Consistencia de marca</a:t>
            </a:r>
          </a:p>
          <a:p>
            <a:pPr algn="ctr">
              <a:spcBef>
                <a:spcPts val="800"/>
              </a:spcBef>
            </a:pPr>
            <a:r>
              <a:rPr sz="2400">
                <a:solidFill>
                  <a:srgbClr val="1E293B"/>
                </a:solidFill>
                <a:latin typeface="Calibri"/>
              </a:rPr>
              <a:t>«¿La IA refleja de forma confiable la voz y los estándares de nuestra empresa?»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5212080"/>
            <a:ext cx="45720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2F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2F5D9B"/>
                </a:solidFill>
                <a:latin typeface="Calibri"/>
              </a:rPr>
              <a:t>Integración de feedback</a:t>
            </a:r>
          </a:p>
          <a:p>
            <a:pPr algn="ctr">
              <a:spcBef>
                <a:spcPts val="800"/>
              </a:spcBef>
            </a:pPr>
            <a:r>
              <a:rPr sz="2400">
                <a:solidFill>
                  <a:srgbClr val="1E293B"/>
                </a:solidFill>
                <a:latin typeface="Calibri"/>
              </a:rPr>
              <a:t>«¿Estamos aprendiendo de los usuarios y mejorando de forma iterativa?»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98480" y="5212080"/>
            <a:ext cx="45720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2F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2F5D9B"/>
                </a:solidFill>
                <a:latin typeface="Calibri"/>
              </a:rPr>
              <a:t>Depuración y detección de regresiones</a:t>
            </a:r>
          </a:p>
          <a:p>
            <a:pPr algn="ctr">
              <a:spcBef>
                <a:spcPts val="800"/>
              </a:spcBef>
            </a:pPr>
            <a:r>
              <a:rPr sz="2400">
                <a:solidFill>
                  <a:srgbClr val="1E293B"/>
                </a:solidFill>
                <a:latin typeface="Calibri"/>
              </a:rPr>
              <a:t>«¿Cómo sabemos cuándo algo se rompe o empeora?»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46100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200" b="1">
                <a:solidFill>
                  <a:srgbClr val="1E293B"/>
                </a:solidFill>
                <a:latin typeface="Calibri"/>
              </a:rPr>
              <a:t>Las preguntas de ingeniería que responde un 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4610080" cy="6766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600" b="0">
                <a:solidFill>
                  <a:srgbClr val="1E293B"/>
                </a:solidFill>
                <a:latin typeface="Calibri"/>
              </a:rPr>
              <a:t>•  Si cambio el </a:t>
            </a:r>
            <a:r>
              <a:rPr sz="3600" b="1">
                <a:solidFill>
                  <a:srgbClr val="1E293B"/>
                </a:solidFill>
                <a:latin typeface="Calibri"/>
              </a:rPr>
              <a:t>modelo</a:t>
            </a:r>
            <a:r>
              <a:rPr sz="3600" b="0">
                <a:solidFill>
                  <a:srgbClr val="1E293B"/>
                </a:solidFill>
                <a:latin typeface="Calibri"/>
              </a:rPr>
              <a:t>: ¿mejora o empeora?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E293B"/>
                </a:solidFill>
                <a:latin typeface="Calibri"/>
              </a:rPr>
              <a:t>•  Si cambio el </a:t>
            </a:r>
            <a:r>
              <a:rPr sz="3600" b="1">
                <a:solidFill>
                  <a:srgbClr val="1E293B"/>
                </a:solidFill>
                <a:latin typeface="Calibri"/>
              </a:rPr>
              <a:t>prompt</a:t>
            </a:r>
            <a:r>
              <a:rPr sz="3600" b="0">
                <a:solidFill>
                  <a:srgbClr val="1E293B"/>
                </a:solidFill>
                <a:latin typeface="Calibri"/>
              </a:rPr>
              <a:t>: ¿mejora o empeora?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E293B"/>
                </a:solidFill>
                <a:latin typeface="Calibri"/>
              </a:rPr>
              <a:t>•  Si cambio otra parte de la aplicación: ¿mejora o empeora?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E293B"/>
                </a:solidFill>
                <a:latin typeface="Calibri"/>
              </a:rPr>
              <a:t>•  ¿Detecto </a:t>
            </a:r>
            <a:r>
              <a:rPr sz="3600" b="1">
                <a:solidFill>
                  <a:srgbClr val="1E293B"/>
                </a:solidFill>
                <a:latin typeface="Calibri"/>
              </a:rPr>
              <a:t>regresiones</a:t>
            </a:r>
            <a:r>
              <a:rPr sz="3600" b="0">
                <a:solidFill>
                  <a:srgbClr val="1E293B"/>
                </a:solidFill>
                <a:latin typeface="Calibri"/>
              </a:rPr>
              <a:t>? (algo que funcionaba deja de funcionar)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E293B"/>
                </a:solidFill>
                <a:latin typeface="Calibri"/>
              </a:rPr>
              <a:t>•  Los LLM son </a:t>
            </a:r>
            <a:r>
              <a:rPr sz="3600" b="1">
                <a:solidFill>
                  <a:srgbClr val="1E293B"/>
                </a:solidFill>
                <a:latin typeface="Calibri"/>
              </a:rPr>
              <a:t>no deterministas</a:t>
            </a:r>
            <a:r>
              <a:rPr sz="3600" b="0">
                <a:solidFill>
                  <a:srgbClr val="1E293B"/>
                </a:solidFill>
                <a:latin typeface="Calibri"/>
              </a:rPr>
              <a:t> → sin rigor es muy difícil llegar a producción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46100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200" b="1">
                <a:solidFill>
                  <a:srgbClr val="1E293B"/>
                </a:solidFill>
                <a:latin typeface="Calibri"/>
              </a:rPr>
              <a:t>No es solo un unit test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2011680"/>
          <a:ext cx="1461007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5013"/>
                <a:gridCol w="6087533"/>
                <a:gridCol w="6087533"/>
              </a:tblGrid>
              <a:tr h="1097280"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2F5D9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Calibri"/>
                        </a:rPr>
                        <a:t>Defensa</a:t>
                      </a:r>
                    </a:p>
                  </a:txBody>
                  <a:tcPr anchor="ctr">
                    <a:solidFill>
                      <a:srgbClr val="2F5D9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Calibri"/>
                        </a:rPr>
                        <a:t>Ofensiva</a:t>
                      </a:r>
                    </a:p>
                  </a:txBody>
                  <a:tcPr anchor="ctr">
                    <a:solidFill>
                      <a:srgbClr val="2F5D9B"/>
                    </a:solidFill>
                  </a:tcPr>
                </a:tc>
              </a:tr>
              <a:tr h="1097280"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1E293B"/>
                          </a:solidFill>
                          <a:latin typeface="Calibri"/>
                        </a:rPr>
                        <a:t>Idea</a:t>
                      </a:r>
                    </a:p>
                  </a:txBody>
                  <a:tcPr anchor="ctr">
                    <a:solidFill>
                      <a:srgbClr val="E4E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3200" b="0">
                          <a:solidFill>
                            <a:srgbClr val="1E293B"/>
                          </a:solidFill>
                          <a:latin typeface="Calibri"/>
                        </a:rPr>
                        <a:t>«No rompí nada»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3200" b="0">
                          <a:solidFill>
                            <a:srgbClr val="1E293B"/>
                          </a:solidFill>
                          <a:latin typeface="Calibri"/>
                        </a:rPr>
                        <a:t>«Sé cuánto mejoré y en qué»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1E293B"/>
                          </a:solidFill>
                          <a:latin typeface="Calibri"/>
                        </a:rPr>
                        <a:t>Foco</a:t>
                      </a:r>
                    </a:p>
                  </a:txBody>
                  <a:tcPr anchor="ctr">
                    <a:solidFill>
                      <a:srgbClr val="E4E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3200" b="0">
                          <a:solidFill>
                            <a:srgbClr val="1E293B"/>
                          </a:solidFill>
                          <a:latin typeface="Calibri"/>
                        </a:rPr>
                        <a:t>Proteger lo que ya funciona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3200" b="0">
                          <a:solidFill>
                            <a:srgbClr val="1E293B"/>
                          </a:solidFill>
                          <a:latin typeface="Calibri"/>
                        </a:rPr>
                        <a:t>Dar rigor a cómo construimos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5852160"/>
            <a:ext cx="14610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0">
                <a:solidFill>
                  <a:srgbClr val="1E293B"/>
                </a:solidFill>
                <a:latin typeface="Calibri"/>
              </a:rPr>
              <a:t>•  Los evals sirven para </a:t>
            </a:r>
            <a:r>
              <a:rPr sz="3400" b="1">
                <a:solidFill>
                  <a:srgbClr val="1E293B"/>
                </a:solidFill>
                <a:latin typeface="Calibri"/>
              </a:rPr>
              <a:t>jugar a la ofensiva</a:t>
            </a:r>
            <a:r>
              <a:rPr sz="3400" b="0">
                <a:solidFill>
                  <a:srgbClr val="1E293B"/>
                </a:solidFill>
                <a:latin typeface="Calibri"/>
              </a:rPr>
              <a:t>: construir cosas que realmente podamos poner en producción.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46100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200" b="1">
                <a:solidFill>
                  <a:srgbClr val="1E293B"/>
                </a:solidFill>
                <a:latin typeface="Calibri"/>
              </a:rPr>
              <a:t>El valor para el negocio: el flywheel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4610080" cy="6766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600" b="0">
                <a:solidFill>
                  <a:srgbClr val="1E293B"/>
                </a:solidFill>
                <a:latin typeface="Calibri"/>
              </a:rPr>
              <a:t>•  Evals </a:t>
            </a:r>
            <a:r>
              <a:rPr sz="3600" b="1">
                <a:solidFill>
                  <a:srgbClr val="1E293B"/>
                </a:solidFill>
                <a:latin typeface="Calibri"/>
              </a:rPr>
              <a:t>offline + online</a:t>
            </a:r>
            <a:r>
              <a:rPr sz="3600" b="0">
                <a:solidFill>
                  <a:srgbClr val="1E293B"/>
                </a:solidFill>
                <a:latin typeface="Calibri"/>
              </a:rPr>
              <a:t> → ciclo de retroalimentación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E293B"/>
                </a:solidFill>
                <a:latin typeface="Calibri"/>
              </a:rPr>
              <a:t>•  Producción → filtrar registros → agregarlos al dataset → informar los evals offline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E293B"/>
                </a:solidFill>
                <a:latin typeface="Calibri"/>
              </a:rPr>
              <a:t>•  Menos tiempo de desarrollo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E293B"/>
                </a:solidFill>
                <a:latin typeface="Calibri"/>
              </a:rPr>
              <a:t>•  Mayor calidad de la aplicación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E293B"/>
                </a:solidFill>
                <a:latin typeface="Calibri"/>
              </a:rPr>
              <a:t>•  Resultados que reportan los equipos: avanzar más rápido · más funciones de IA en producción · más calidad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46100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200" b="1">
                <a:solidFill>
                  <a:srgbClr val="1E293B"/>
                </a:solidFill>
                <a:latin typeface="Calibri"/>
              </a:rPr>
              <a:t>Cómo los evals pueden ayudar a tu negocio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4610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0">
                <a:solidFill>
                  <a:srgbClr val="1E293B"/>
                </a:solidFill>
                <a:latin typeface="Calibri"/>
              </a:rPr>
              <a:t>•  </a:t>
            </a:r>
            <a:r>
              <a:rPr sz="3200" b="1">
                <a:solidFill>
                  <a:srgbClr val="1E293B"/>
                </a:solidFill>
                <a:latin typeface="Calibri"/>
              </a:rPr>
              <a:t>Reducir el tiempo de desarrollo:</a:t>
            </a:r>
            <a:r>
              <a:rPr sz="3200" b="0">
                <a:solidFill>
                  <a:srgbClr val="1E293B"/>
                </a:solidFill>
                <a:latin typeface="Calibri"/>
              </a:rPr>
              <a:t> ciclos de iteración rápidos y pruebas locales con varios LLM, sin fricción</a:t>
            </a:r>
          </a:p>
          <a:p>
            <a:pPr>
              <a:spcAft>
                <a:spcPts val="1000"/>
              </a:spcAft>
            </a:pPr>
            <a:r>
              <a:rPr sz="3200" b="0">
                <a:solidFill>
                  <a:srgbClr val="1E293B"/>
                </a:solidFill>
                <a:latin typeface="Calibri"/>
              </a:rPr>
              <a:t>•  </a:t>
            </a:r>
            <a:r>
              <a:rPr sz="3200" b="1">
                <a:solidFill>
                  <a:srgbClr val="1E293B"/>
                </a:solidFill>
                <a:latin typeface="Calibri"/>
              </a:rPr>
              <a:t>Reducir costos:</a:t>
            </a:r>
            <a:r>
              <a:rPr sz="3200" b="0">
                <a:solidFill>
                  <a:srgbClr val="1E293B"/>
                </a:solidFill>
                <a:latin typeface="Calibri"/>
              </a:rPr>
              <a:t> los evals automatizados reemplazan la revisión manual y permiten iterar y lanzar más rápido</a:t>
            </a:r>
          </a:p>
          <a:p>
            <a:pPr>
              <a:spcAft>
                <a:spcPts val="1000"/>
              </a:spcAft>
            </a:pPr>
            <a:r>
              <a:rPr sz="3200" b="0">
                <a:solidFill>
                  <a:srgbClr val="1E293B"/>
                </a:solidFill>
                <a:latin typeface="Calibri"/>
              </a:rPr>
              <a:t>•  </a:t>
            </a:r>
            <a:r>
              <a:rPr sz="3200" b="1">
                <a:solidFill>
                  <a:srgbClr val="1E293B"/>
                </a:solidFill>
                <a:latin typeface="Calibri"/>
              </a:rPr>
              <a:t>Mejorar la calidad:</a:t>
            </a:r>
            <a:r>
              <a:rPr sz="3200" b="0">
                <a:solidFill>
                  <a:srgbClr val="1E293B"/>
                </a:solidFill>
                <a:latin typeface="Calibri"/>
              </a:rPr>
              <a:t> monitoreo en tiempo real y cumplimiento (compliance) para reducir riesgos y mejorar la experiencia del cliente</a:t>
            </a:r>
          </a:p>
          <a:p>
            <a:pPr>
              <a:spcAft>
                <a:spcPts val="1000"/>
              </a:spcAft>
            </a:pPr>
            <a:r>
              <a:rPr sz="3200" b="0">
                <a:solidFill>
                  <a:srgbClr val="1E293B"/>
                </a:solidFill>
                <a:latin typeface="Calibri"/>
              </a:rPr>
              <a:t>•  </a:t>
            </a:r>
            <a:r>
              <a:rPr sz="3200" b="1">
                <a:solidFill>
                  <a:srgbClr val="1E293B"/>
                </a:solidFill>
                <a:latin typeface="Calibri"/>
              </a:rPr>
              <a:t>Escalar equipos:</a:t>
            </a:r>
            <a:r>
              <a:rPr sz="3200" b="0">
                <a:solidFill>
                  <a:srgbClr val="1E293B"/>
                </a:solidFill>
                <a:latin typeface="Calibri"/>
              </a:rPr>
              <a:t> permiten que personas no técnicas colaboren para construir las mejores aplicaciones de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0"/>
            <a:ext cx="14610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i="1">
                <a:solidFill>
                  <a:srgbClr val="555B66"/>
                </a:solidFill>
                <a:latin typeface="Calibri"/>
              </a:rPr>
              <a:t>Testimonio: «Nunca vi una transformación del flujo de trabajo como la de incorporar los evals a los procesos de ingeniería «mainstream» (los habituales). Es asombroso.»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46100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200" b="1">
                <a:solidFill>
                  <a:srgbClr val="1E293B"/>
                </a:solidFill>
                <a:latin typeface="Calibri"/>
              </a:rPr>
              <a:t>Los tres bloques del ciclo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377440"/>
            <a:ext cx="4206240" cy="4206240"/>
          </a:xfrm>
          <a:prstGeom prst="roundRect">
            <a:avLst/>
          </a:prstGeom>
          <a:solidFill>
            <a:srgbClr val="DCE6F4"/>
          </a:solidFill>
          <a:ln>
            <a:solidFill>
              <a:srgbClr val="2F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1E293B"/>
                </a:solidFill>
                <a:latin typeface="Calibri"/>
              </a:rPr>
              <a:t>Ingeniería de prompts</a:t>
            </a:r>
          </a:p>
          <a:p>
            <a:pPr algn="ctr"/>
            <a:r>
              <a:rPr sz="2600">
                <a:solidFill>
                  <a:srgbClr val="1E293B"/>
                </a:solidFill>
                <a:latin typeface="Calibri"/>
              </a:rPr>
              <a:t>Como un IDE para salidas de LLM.</a:t>
            </a:r>
          </a:p>
          <a:p>
            <a:pPr algn="ctr"/>
            <a:r>
              <a:rPr sz="2600">
                <a:solidFill>
                  <a:srgbClr val="1E293B"/>
                </a:solidFill>
                <a:latin typeface="Calibri"/>
              </a:rPr>
              <a:t>Prototipado rápido.</a:t>
            </a:r>
          </a:p>
        </p:txBody>
      </p:sp>
      <p:sp>
        <p:nvSpPr>
          <p:cNvPr id="4" name="Left-Right Arrow 3"/>
          <p:cNvSpPr/>
          <p:nvPr/>
        </p:nvSpPr>
        <p:spPr>
          <a:xfrm>
            <a:off x="5120640" y="4114800"/>
            <a:ext cx="731520" cy="731520"/>
          </a:xfrm>
          <a:prstGeom prst="leftRightArrow">
            <a:avLst/>
          </a:prstGeom>
          <a:solidFill>
            <a:srgbClr val="2F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0" y="2377440"/>
            <a:ext cx="4206240" cy="4206240"/>
          </a:xfrm>
          <a:prstGeom prst="roundRect">
            <a:avLst/>
          </a:prstGeom>
          <a:solidFill>
            <a:srgbClr val="DFECDF"/>
          </a:solidFill>
          <a:ln>
            <a:solidFill>
              <a:srgbClr val="2F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1E293B"/>
                </a:solidFill>
                <a:latin typeface="Calibri"/>
              </a:rPr>
              <a:t>Evals</a:t>
            </a:r>
          </a:p>
          <a:p>
            <a:pPr algn="ctr"/>
            <a:r>
              <a:rPr sz="2600">
                <a:solidFill>
                  <a:srgbClr val="1E293B"/>
                </a:solidFill>
                <a:latin typeface="Calibri"/>
              </a:rPr>
              <a:t>¿Mejoré o retrocedí?</a:t>
            </a:r>
          </a:p>
          <a:p>
            <a:pPr algn="ctr"/>
            <a:r>
              <a:rPr sz="2600">
                <a:solidFill>
                  <a:srgbClr val="1E293B"/>
                </a:solidFill>
                <a:latin typeface="Calibri"/>
              </a:rPr>
              <a:t>Score = puntaje de desempeño de 0 a 100 %.</a:t>
            </a:r>
          </a:p>
        </p:txBody>
      </p:sp>
      <p:sp>
        <p:nvSpPr>
          <p:cNvPr id="6" name="Left-Right Arrow 5"/>
          <p:cNvSpPr/>
          <p:nvPr/>
        </p:nvSpPr>
        <p:spPr>
          <a:xfrm>
            <a:off x="10241280" y="4114800"/>
            <a:ext cx="731520" cy="731520"/>
          </a:xfrm>
          <a:prstGeom prst="leftRightArrow">
            <a:avLst/>
          </a:prstGeom>
          <a:solidFill>
            <a:srgbClr val="2F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064240" y="2377440"/>
            <a:ext cx="4206240" cy="4206240"/>
          </a:xfrm>
          <a:prstGeom prst="roundRect">
            <a:avLst/>
          </a:prstGeom>
          <a:solidFill>
            <a:srgbClr val="E8E4DA"/>
          </a:solidFill>
          <a:ln>
            <a:solidFill>
              <a:srgbClr val="2F5D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1E293B"/>
                </a:solidFill>
                <a:latin typeface="Calibri"/>
              </a:rPr>
              <a:t>Observabilidad de la IA</a:t>
            </a:r>
          </a:p>
          <a:p>
            <a:pPr algn="ctr"/>
            <a:r>
              <a:rPr sz="2600">
                <a:solidFill>
                  <a:srgbClr val="1E293B"/>
                </a:solidFill>
                <a:latin typeface="Calibri"/>
              </a:rPr>
              <a:t>¿Qué pasa en producción?</a:t>
            </a:r>
          </a:p>
          <a:p>
            <a:pPr algn="ctr"/>
            <a:r>
              <a:rPr sz="2600">
                <a:solidFill>
                  <a:srgbClr val="1E293B"/>
                </a:solidFill>
                <a:latin typeface="Calibri"/>
              </a:rPr>
              <a:t>Pulgar arriba o abajo.</a:t>
            </a:r>
          </a:p>
          <a:p>
            <a:pPr algn="ctr"/>
            <a:r>
              <a:rPr sz="2600">
                <a:solidFill>
                  <a:srgbClr val="1E293B"/>
                </a:solidFill>
                <a:latin typeface="Calibri"/>
              </a:rPr>
              <a:t>Depurar y evaluar.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46100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200" b="1">
                <a:solidFill>
                  <a:srgbClr val="1E293B"/>
                </a:solidFill>
                <a:latin typeface="Calibri"/>
              </a:rPr>
              <a:t>La tarea en la práctica: el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4610080" cy="6766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600" b="0">
                <a:solidFill>
                  <a:srgbClr val="1E293B"/>
                </a:solidFill>
                <a:latin typeface="Calibri"/>
              </a:rPr>
              <a:t>•  Un </a:t>
            </a:r>
            <a:r>
              <a:rPr sz="3600" b="1">
                <a:solidFill>
                  <a:srgbClr val="1E293B"/>
                </a:solidFill>
                <a:latin typeface="Calibri"/>
              </a:rPr>
              <a:t>prompt</a:t>
            </a:r>
            <a:r>
              <a:rPr sz="3600" b="0">
                <a:solidFill>
                  <a:srgbClr val="1E293B"/>
                </a:solidFill>
                <a:latin typeface="Calibri"/>
              </a:rPr>
              <a:t> simple o un </a:t>
            </a:r>
            <a:r>
              <a:rPr sz="3600" b="1">
                <a:solidFill>
                  <a:srgbClr val="1E293B"/>
                </a:solidFill>
                <a:latin typeface="Calibri"/>
              </a:rPr>
              <a:t>flujo agéntico</a:t>
            </a:r>
            <a:r>
              <a:rPr sz="3600" b="0">
                <a:solidFill>
                  <a:srgbClr val="1E293B"/>
                </a:solidFill>
                <a:latin typeface="Calibri"/>
              </a:rPr>
              <a:t> completo; solo requiere una entrada y una salida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E293B"/>
                </a:solidFill>
                <a:latin typeface="Calibri"/>
              </a:rPr>
              <a:t>•  Un prompt se configura con:</a:t>
            </a:r>
          </a:p>
          <a:p>
            <a:pPr>
              <a:spcAft>
                <a:spcPts val="1000"/>
              </a:spcAft>
            </a:pPr>
            <a:r>
              <a:rPr sz="3200" b="0">
                <a:solidFill>
                  <a:srgbClr val="1E293B"/>
                </a:solidFill>
                <a:latin typeface="Calibri"/>
              </a:rPr>
              <a:t>        –  </a:t>
            </a:r>
            <a:r>
              <a:rPr sz="3200" b="1">
                <a:solidFill>
                  <a:srgbClr val="1E293B"/>
                </a:solidFill>
                <a:latin typeface="Calibri"/>
              </a:rPr>
              <a:t>Modelo</a:t>
            </a:r>
          </a:p>
          <a:p>
            <a:pPr>
              <a:spcAft>
                <a:spcPts val="1000"/>
              </a:spcAft>
            </a:pPr>
            <a:r>
              <a:rPr sz="3200" b="0">
                <a:solidFill>
                  <a:srgbClr val="1E293B"/>
                </a:solidFill>
                <a:latin typeface="Calibri"/>
              </a:rPr>
              <a:t>        –  </a:t>
            </a:r>
            <a:r>
              <a:rPr sz="3200" b="1">
                <a:solidFill>
                  <a:srgbClr val="1E293B"/>
                </a:solidFill>
                <a:latin typeface="Calibri"/>
              </a:rPr>
              <a:t>Prompt de sistema</a:t>
            </a:r>
          </a:p>
          <a:p>
            <a:pPr>
              <a:spcAft>
                <a:spcPts val="1000"/>
              </a:spcAft>
            </a:pPr>
            <a:r>
              <a:rPr sz="3200" b="0">
                <a:solidFill>
                  <a:srgbClr val="1E293B"/>
                </a:solidFill>
                <a:latin typeface="Calibri"/>
              </a:rPr>
              <a:t>        –  </a:t>
            </a:r>
            <a:r>
              <a:rPr sz="3200" b="1">
                <a:solidFill>
                  <a:srgbClr val="1E293B"/>
                </a:solidFill>
                <a:latin typeface="Calibri"/>
              </a:rPr>
              <a:t>Herramientas</a:t>
            </a:r>
            <a:r>
              <a:rPr sz="3200" b="0">
                <a:solidFill>
                  <a:srgbClr val="1E293B"/>
                </a:solidFill>
                <a:latin typeface="Calibri"/>
              </a:rPr>
              <a:t> (opcional)</a:t>
            </a:r>
          </a:p>
          <a:p>
            <a:pPr>
              <a:spcAft>
                <a:spcPts val="1000"/>
              </a:spcAft>
            </a:pPr>
            <a:r>
              <a:rPr sz="3200" b="0">
                <a:solidFill>
                  <a:srgbClr val="1E293B"/>
                </a:solidFill>
                <a:latin typeface="Calibri"/>
              </a:rPr>
              <a:t>        –  </a:t>
            </a:r>
            <a:r>
              <a:rPr sz="3200" b="1">
                <a:solidFill>
                  <a:srgbClr val="1E293B"/>
                </a:solidFill>
                <a:latin typeface="Calibri"/>
              </a:rPr>
              <a:t>Variables</a:t>
            </a:r>
            <a:r>
              <a:rPr sz="3200" b="0">
                <a:solidFill>
                  <a:srgbClr val="1E293B"/>
                </a:solidFill>
                <a:latin typeface="Calibri"/>
              </a:rPr>
              <a:t> con plantillas {{pregunta}}: entrada del usuario, historial, metadatos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46100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200" b="1">
                <a:solidFill>
                  <a:srgbClr val="1E293B"/>
                </a:solidFill>
                <a:latin typeface="Calibri"/>
              </a:rPr>
              <a:t>La tarea: conversación, herramientas, encadenamiento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4610080" cy="6766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600" b="0">
                <a:solidFill>
                  <a:srgbClr val="1E293B"/>
                </a:solidFill>
                <a:latin typeface="Calibri"/>
              </a:rPr>
              <a:t>•  </a:t>
            </a:r>
            <a:r>
              <a:rPr sz="3600" b="1">
                <a:solidFill>
                  <a:srgbClr val="1E293B"/>
                </a:solidFill>
                <a:latin typeface="Calibri"/>
              </a:rPr>
              <a:t>Varios turnos:</a:t>
            </a:r>
            <a:r>
              <a:rPr sz="3600" b="0">
                <a:solidFill>
                  <a:srgbClr val="1E293B"/>
                </a:solidFill>
                <a:latin typeface="Calibri"/>
              </a:rPr>
              <a:t> mensajes de sistema, asistente, usuario y llamadas a herramientas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E293B"/>
                </a:solidFill>
                <a:latin typeface="Calibri"/>
              </a:rPr>
              <a:t>•  </a:t>
            </a:r>
            <a:r>
              <a:rPr sz="3600" b="1">
                <a:solidFill>
                  <a:srgbClr val="1E293B"/>
                </a:solidFill>
                <a:latin typeface="Calibri"/>
              </a:rPr>
              <a:t>Herramientas:</a:t>
            </a:r>
            <a:r>
              <a:rPr sz="3600" b="0">
                <a:solidFill>
                  <a:srgbClr val="1E293B"/>
                </a:solidFill>
                <a:latin typeface="Calibri"/>
              </a:rPr>
              <a:t> RAG, búsqueda web… el prompt las usa mientras corre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E293B"/>
                </a:solidFill>
                <a:latin typeface="Calibri"/>
              </a:rPr>
              <a:t>•  </a:t>
            </a:r>
            <a:r>
              <a:rPr sz="3600" b="1">
                <a:solidFill>
                  <a:srgbClr val="1E293B"/>
                </a:solidFill>
                <a:latin typeface="Calibri"/>
              </a:rPr>
              <a:t>Encadenar prompts:</a:t>
            </a:r>
            <a:r>
              <a:rPr sz="3600" b="0">
                <a:solidFill>
                  <a:srgbClr val="1E293B"/>
                </a:solidFill>
                <a:latin typeface="Calibri"/>
              </a:rPr>
              <a:t> la salida de uno es la entrada del siguiente → flujos tipo </a:t>
            </a:r>
            <a:r>
              <a:rPr sz="3600" b="1">
                <a:solidFill>
                  <a:srgbClr val="1E293B"/>
                </a:solidFill>
                <a:latin typeface="Calibri"/>
              </a:rPr>
              <a:t>multiagente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46100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200" b="1">
                <a:solidFill>
                  <a:srgbClr val="1E293B"/>
                </a:solidFill>
                <a:latin typeface="Calibri"/>
              </a:rPr>
              <a:t>El dataset: estructura de cada ejemplo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2011680"/>
          <a:ext cx="1461007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5085"/>
                <a:gridCol w="2675085"/>
                <a:gridCol w="9259909"/>
              </a:tblGrid>
              <a:tr h="960120">
                <a:tc>
                  <a:txBody>
                    <a:bodyPr wrap="square"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Campo</a:t>
                      </a:r>
                    </a:p>
                  </a:txBody>
                  <a:tcPr anchor="ctr">
                    <a:solidFill>
                      <a:srgbClr val="2F5D9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Obligatorio</a:t>
                      </a:r>
                    </a:p>
                  </a:txBody>
                  <a:tcPr anchor="ctr">
                    <a:solidFill>
                      <a:srgbClr val="2F5D9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Para qué</a:t>
                      </a:r>
                    </a:p>
                  </a:txBody>
                  <a:tcPr anchor="ctr">
                    <a:solidFill>
                      <a:srgbClr val="2F5D9B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r>
                        <a:rPr sz="3000" b="1">
                          <a:solidFill>
                            <a:srgbClr val="1E293B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anchor="ctr">
                    <a:solidFill>
                      <a:srgbClr val="E4E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3000" b="0">
                          <a:solidFill>
                            <a:srgbClr val="1E293B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3000" b="0">
                          <a:solidFill>
                            <a:srgbClr val="1E293B"/>
                          </a:solidFill>
                          <a:latin typeface="Calibri"/>
                        </a:rPr>
                        <a:t>Lo que recibe la tarea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r>
                        <a:rPr sz="3000" b="1">
                          <a:solidFill>
                            <a:srgbClr val="1E293B"/>
                          </a:solidFill>
                          <a:latin typeface="Calibri"/>
                        </a:rPr>
                        <a:t>expected</a:t>
                      </a:r>
                    </a:p>
                  </a:txBody>
                  <a:tcPr anchor="ctr">
                    <a:solidFill>
                      <a:srgbClr val="E4E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300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3000" b="0">
                          <a:solidFill>
                            <a:srgbClr val="1E293B"/>
                          </a:solidFill>
                          <a:latin typeface="Calibri"/>
                        </a:rPr>
                        <a:t>Comparar la salida con lo esperado (p. ej. Levenshtein)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r>
                        <a:rPr sz="3000" b="1">
                          <a:solidFill>
                            <a:srgbClr val="1E293B"/>
                          </a:solidFill>
                          <a:latin typeface="Calibri"/>
                        </a:rPr>
                        <a:t>metadata</a:t>
                      </a:r>
                    </a:p>
                  </a:txBody>
                  <a:tcPr anchor="ctr">
                    <a:solidFill>
                      <a:srgbClr val="E4E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3000" b="0">
                          <a:solidFill>
                            <a:srgbClr val="1E293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3000" b="0">
                          <a:solidFill>
                            <a:srgbClr val="1E293B"/>
                          </a:solidFill>
                          <a:latin typeface="Calibri"/>
                        </a:rPr>
                        <a:t>Filtrar y segmentar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6309360"/>
            <a:ext cx="14610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400" b="0">
                <a:solidFill>
                  <a:srgbClr val="1E293B"/>
                </a:solidFill>
                <a:latin typeface="Calibri"/>
              </a:rPr>
              <a:t>•  Lo que incluyamos en el dataset determina </a:t>
            </a:r>
            <a:r>
              <a:rPr sz="3400" b="1">
                <a:solidFill>
                  <a:srgbClr val="1E293B"/>
                </a:solidFill>
                <a:latin typeface="Calibri"/>
              </a:rPr>
              <a:t>qué cosas podemos medir</a:t>
            </a:r>
            <a:r>
              <a:rPr sz="3400" b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46100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200" b="1">
                <a:solidFill>
                  <a:srgbClr val="1E293B"/>
                </a:solidFill>
                <a:latin typeface="Calibri"/>
              </a:rPr>
              <a:t>El dataset se alimenta de producción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4610080" cy="6766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600" b="0">
                <a:solidFill>
                  <a:srgbClr val="1E293B"/>
                </a:solidFill>
                <a:latin typeface="Calibri"/>
              </a:rPr>
              <a:t>•  Registros reales de producción → </a:t>
            </a:r>
            <a:r>
              <a:rPr sz="3600" b="1">
                <a:solidFill>
                  <a:srgbClr val="1E293B"/>
                </a:solidFill>
                <a:latin typeface="Calibri"/>
              </a:rPr>
              <a:t>agregados al dataset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E293B"/>
                </a:solidFill>
                <a:latin typeface="Calibri"/>
              </a:rPr>
              <a:t>•  </a:t>
            </a:r>
            <a:r>
              <a:rPr sz="3600" b="1">
                <a:solidFill>
                  <a:srgbClr val="1E293B"/>
                </a:solidFill>
                <a:latin typeface="Calibri"/>
              </a:rPr>
              <a:t>Revisión humana:</a:t>
            </a:r>
            <a:r>
              <a:rPr sz="3600" b="0">
                <a:solidFill>
                  <a:srgbClr val="1E293B"/>
                </a:solidFill>
                <a:latin typeface="Calibri"/>
              </a:rPr>
              <a:t> personas recorren los registros filtrados y eligen qué sumar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E293B"/>
                </a:solidFill>
                <a:latin typeface="Calibri"/>
              </a:rPr>
              <a:t>•  Esos datasets informan los evals offline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E293B"/>
                </a:solidFill>
                <a:latin typeface="Calibri"/>
              </a:rPr>
              <a:t>•  </a:t>
            </a:r>
            <a:r>
              <a:rPr sz="3600" b="1">
                <a:solidFill>
                  <a:srgbClr val="1E293B"/>
                </a:solidFill>
                <a:latin typeface="Calibri"/>
              </a:rPr>
              <a:t>Empezá de a poco e iterá:</a:t>
            </a:r>
            <a:r>
              <a:rPr sz="3600" b="0">
                <a:solidFill>
                  <a:srgbClr val="1E293B"/>
                </a:solidFill>
                <a:latin typeface="Calibri"/>
              </a:rPr>
              <a:t> no hace falta un dataset perfecto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46100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200" b="1">
                <a:solidFill>
                  <a:srgbClr val="1E293B"/>
                </a:solidFill>
                <a:latin typeface="Calibri"/>
              </a:rPr>
              <a:t>Scores: del criterio al número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4610080" cy="6766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600" b="0">
                <a:solidFill>
                  <a:srgbClr val="1E293B"/>
                </a:solidFill>
                <a:latin typeface="Calibri"/>
              </a:rPr>
              <a:t>•  </a:t>
            </a:r>
            <a:r>
              <a:rPr sz="3600" b="1">
                <a:solidFill>
                  <a:srgbClr val="1E293B"/>
                </a:solidFill>
                <a:latin typeface="Calibri"/>
              </a:rPr>
              <a:t>Basados en código:</a:t>
            </a:r>
            <a:r>
              <a:rPr sz="3600" b="0">
                <a:solidFill>
                  <a:srgbClr val="1E293B"/>
                </a:solidFill>
                <a:latin typeface="Calibri"/>
              </a:rPr>
              <a:t> condiciones binarias, en TypeScript o Python</a:t>
            </a:r>
          </a:p>
          <a:p>
            <a:pPr>
              <a:spcAft>
                <a:spcPts val="1000"/>
              </a:spcAft>
            </a:pPr>
            <a:r>
              <a:rPr sz="3200" b="0">
                <a:solidFill>
                  <a:srgbClr val="1E293B"/>
                </a:solidFill>
                <a:latin typeface="Calibri"/>
              </a:rPr>
              <a:t>        –  Se escriben en la interfaz de una plataforma de evaluación o en tu código, y se publican para todo el equipo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E293B"/>
                </a:solidFill>
                <a:latin typeface="Calibri"/>
              </a:rPr>
              <a:t>•  </a:t>
            </a:r>
            <a:r>
              <a:rPr sz="3600" b="1">
                <a:solidFill>
                  <a:srgbClr val="1E293B"/>
                </a:solidFill>
                <a:latin typeface="Calibri"/>
              </a:rPr>
              <a:t>LLM como juez:</a:t>
            </a:r>
            <a:r>
              <a:rPr sz="3600" b="0">
                <a:solidFill>
                  <a:srgbClr val="1E293B"/>
                </a:solidFill>
                <a:latin typeface="Calibri"/>
              </a:rPr>
              <a:t> un modelo juzga según tus criterios (bueno / aceptable / malo)</a:t>
            </a:r>
          </a:p>
          <a:p>
            <a:pPr>
              <a:spcAft>
                <a:spcPts val="1000"/>
              </a:spcAft>
            </a:pPr>
            <a:r>
              <a:rPr sz="3200" b="0">
                <a:solidFill>
                  <a:srgbClr val="1E293B"/>
                </a:solidFill>
                <a:latin typeface="Calibri"/>
              </a:rPr>
              <a:t>        –  Cada categoría se mapea a un puntaje: 1 / 0,5 / 0, es decir 100 % / 50 % / 0 %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E293B"/>
                </a:solidFill>
                <a:latin typeface="Calibri"/>
              </a:rPr>
              <a:t>•  Sirven </a:t>
            </a:r>
            <a:r>
              <a:rPr sz="3600" b="1">
                <a:solidFill>
                  <a:srgbClr val="1E293B"/>
                </a:solidFill>
                <a:latin typeface="Calibri"/>
              </a:rPr>
              <a:t>offline y online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46100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200" b="1">
                <a:solidFill>
                  <a:srgbClr val="1E293B"/>
                </a:solidFill>
                <a:latin typeface="Calibri"/>
              </a:rPr>
              <a:t>Scores para arrancar rápido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4610080" cy="6766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600" b="0">
                <a:solidFill>
                  <a:srgbClr val="1E293B"/>
                </a:solidFill>
                <a:latin typeface="Calibri"/>
              </a:rPr>
              <a:t>•  Existen </a:t>
            </a:r>
            <a:r>
              <a:rPr sz="3600" b="1">
                <a:solidFill>
                  <a:srgbClr val="1E293B"/>
                </a:solidFill>
                <a:latin typeface="Calibri"/>
              </a:rPr>
              <a:t>paquetes de scores listos</a:t>
            </a:r>
            <a:r>
              <a:rPr sz="3600" b="0">
                <a:solidFill>
                  <a:srgbClr val="1E293B"/>
                </a:solidFill>
                <a:latin typeface="Calibri"/>
              </a:rPr>
              <a:t> (juez-LLM y de código)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E293B"/>
                </a:solidFill>
                <a:latin typeface="Calibri"/>
              </a:rPr>
              <a:t>•  Empezar con </a:t>
            </a:r>
            <a:r>
              <a:rPr sz="3600" b="1">
                <a:solidFill>
                  <a:srgbClr val="1E293B"/>
                </a:solidFill>
                <a:latin typeface="Calibri"/>
              </a:rPr>
              <a:t>Levenshtein:</a:t>
            </a:r>
            <a:r>
              <a:rPr sz="3600" b="0">
                <a:solidFill>
                  <a:srgbClr val="1E293B"/>
                </a:solidFill>
                <a:latin typeface="Calibri"/>
              </a:rPr>
              <a:t> no siempre es la mejor, pero da una línea base con casi nada de desarrollo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E293B"/>
                </a:solidFill>
                <a:latin typeface="Calibri"/>
              </a:rPr>
              <a:t>•  Y marca </a:t>
            </a:r>
            <a:r>
              <a:rPr sz="3600" b="1">
                <a:solidFill>
                  <a:srgbClr val="1E293B"/>
                </a:solidFill>
                <a:latin typeface="Calibri"/>
              </a:rPr>
              <a:t>hacia dónde</a:t>
            </a:r>
            <a:r>
              <a:rPr sz="3600" b="0">
                <a:solidFill>
                  <a:srgbClr val="1E293B"/>
                </a:solidFill>
                <a:latin typeface="Calibri"/>
              </a:rPr>
              <a:t> construir una métrica más a medida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46100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200" b="1">
                <a:solidFill>
                  <a:srgbClr val="1E293B"/>
                </a:solidFill>
                <a:latin typeface="Calibri"/>
              </a:rPr>
              <a:t>Consejos para los scores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4610080" cy="6766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600" b="0">
                <a:solidFill>
                  <a:srgbClr val="1E293B"/>
                </a:solidFill>
                <a:latin typeface="Calibri"/>
              </a:rPr>
              <a:t>1. </a:t>
            </a:r>
            <a:r>
              <a:rPr sz="3600" b="1">
                <a:solidFill>
                  <a:srgbClr val="1E293B"/>
                </a:solidFill>
                <a:latin typeface="Calibri"/>
              </a:rPr>
              <a:t>Modelo de mayor calidad</a:t>
            </a:r>
            <a:r>
              <a:rPr sz="3600" b="0">
                <a:solidFill>
                  <a:srgbClr val="1E293B"/>
                </a:solidFill>
                <a:latin typeface="Calibri"/>
              </a:rPr>
              <a:t> para puntuar, aunque la app use uno más barato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E293B"/>
                </a:solidFill>
                <a:latin typeface="Calibri"/>
              </a:rPr>
              <a:t>2. Tratarlos como </a:t>
            </a:r>
            <a:r>
              <a:rPr sz="3600" b="1">
                <a:solidFill>
                  <a:srgbClr val="1E293B"/>
                </a:solidFill>
                <a:latin typeface="Calibri"/>
              </a:rPr>
              <a:t>jueces:</a:t>
            </a:r>
            <a:r>
              <a:rPr sz="3600" b="0">
                <a:solidFill>
                  <a:srgbClr val="1E293B"/>
                </a:solidFill>
                <a:latin typeface="Calibri"/>
              </a:rPr>
              <a:t> intención, estilo y calidad general, no solo corrección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E293B"/>
                </a:solidFill>
                <a:latin typeface="Calibri"/>
              </a:rPr>
              <a:t>3. </a:t>
            </a:r>
            <a:r>
              <a:rPr sz="3600" b="1">
                <a:solidFill>
                  <a:srgbClr val="1E293B"/>
                </a:solidFill>
                <a:latin typeface="Calibri"/>
              </a:rPr>
              <a:t>Dividir</a:t>
            </a:r>
            <a:r>
              <a:rPr sz="3600" b="0">
                <a:solidFill>
                  <a:srgbClr val="1E293B"/>
                </a:solidFill>
                <a:latin typeface="Calibri"/>
              </a:rPr>
              <a:t> en scores específicos (exactitud, creatividad, formato…)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E293B"/>
                </a:solidFill>
                <a:latin typeface="Calibri"/>
              </a:rPr>
              <a:t>4. </a:t>
            </a:r>
            <a:r>
              <a:rPr sz="3600" b="1">
                <a:solidFill>
                  <a:srgbClr val="1E293B"/>
                </a:solidFill>
                <a:latin typeface="Calibri"/>
              </a:rPr>
              <a:t>Probar</a:t>
            </a:r>
            <a:r>
              <a:rPr sz="3600" b="0">
                <a:solidFill>
                  <a:srgbClr val="1E293B"/>
                </a:solidFill>
                <a:latin typeface="Calibri"/>
              </a:rPr>
              <a:t> los prompts de los scores antes de usarlos (con salidas buenas y malas)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E293B"/>
                </a:solidFill>
                <a:latin typeface="Calibri"/>
              </a:rPr>
              <a:t>5. </a:t>
            </a:r>
            <a:r>
              <a:rPr sz="3600" b="1">
                <a:solidFill>
                  <a:srgbClr val="1E293B"/>
                </a:solidFill>
                <a:latin typeface="Calibri"/>
              </a:rPr>
              <a:t>No sobrecargar</a:t>
            </a:r>
            <a:r>
              <a:rPr sz="3600" b="0">
                <a:solidFill>
                  <a:srgbClr val="1E293B"/>
                </a:solidFill>
                <a:latin typeface="Calibri"/>
              </a:rPr>
              <a:t> con contexto: solo entrada y salida relevantes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46100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200" b="1">
                <a:solidFill>
                  <a:srgbClr val="1E293B"/>
                </a:solidFill>
                <a:latin typeface="Calibri"/>
              </a:rPr>
              <a:t>Dos modelos mentales: offline y online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920240"/>
          <a:ext cx="14610079" cy="731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4335"/>
                <a:gridCol w="6317872"/>
                <a:gridCol w="6317872"/>
              </a:tblGrid>
              <a:tr h="1828800">
                <a:tc>
                  <a:txBody>
                    <a:bodyPr wrap="square"/>
                    <a:lstStyle/>
                    <a:p>
                      <a:r>
                        <a:rPr sz="26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2F5D9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>
                          <a:solidFill>
                            <a:srgbClr val="FFFFFF"/>
                          </a:solidFill>
                          <a:latin typeface="Calibri"/>
                        </a:rPr>
                        <a:t>Offline (antes de producción)</a:t>
                      </a:r>
                    </a:p>
                  </a:txBody>
                  <a:tcPr anchor="ctr">
                    <a:solidFill>
                      <a:srgbClr val="2F5D9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>
                          <a:solidFill>
                            <a:srgbClr val="FFFFFF"/>
                          </a:solidFill>
                          <a:latin typeface="Calibri"/>
                        </a:rPr>
                        <a:t>Online (en producción)</a:t>
                      </a:r>
                    </a:p>
                  </a:txBody>
                  <a:tcPr anchor="ctr">
                    <a:solidFill>
                      <a:srgbClr val="2F5D9B"/>
                    </a:solidFill>
                  </a:tcPr>
                </a:tc>
              </a:tr>
              <a:tr h="1828800">
                <a:tc>
                  <a:txBody>
                    <a:bodyPr wrap="square"/>
                    <a:lstStyle/>
                    <a:p>
                      <a:r>
                        <a:rPr sz="2600" b="1">
                          <a:solidFill>
                            <a:srgbClr val="1E293B"/>
                          </a:solidFill>
                          <a:latin typeface="Calibri"/>
                        </a:rPr>
                        <a:t>Qué</a:t>
                      </a:r>
                    </a:p>
                  </a:txBody>
                  <a:tcPr anchor="ctr">
                    <a:solidFill>
                      <a:srgbClr val="E4E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>
                          <a:solidFill>
                            <a:srgbClr val="1E293B"/>
                          </a:solidFill>
                          <a:latin typeface="Calibri"/>
                        </a:rPr>
                        <a:t>Pruebas estructuradas con datasets predefinidos y funciones de puntaje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>
                          <a:solidFill>
                            <a:srgbClr val="1E293B"/>
                          </a:solidFill>
                          <a:latin typeface="Calibri"/>
                        </a:rPr>
                        <a:t>Trazado y monitoreo en tiempo real: entradas, salidas, pasos intermedios, herramientas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28800">
                <a:tc>
                  <a:txBody>
                    <a:bodyPr wrap="square"/>
                    <a:lstStyle/>
                    <a:p>
                      <a:r>
                        <a:rPr sz="2600" b="1">
                          <a:solidFill>
                            <a:srgbClr val="1E293B"/>
                          </a:solidFill>
                          <a:latin typeface="Calibri"/>
                        </a:rPr>
                        <a:t>Para qué</a:t>
                      </a:r>
                    </a:p>
                  </a:txBody>
                  <a:tcPr anchor="ctr">
                    <a:solidFill>
                      <a:srgbClr val="E4E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>
                          <a:solidFill>
                            <a:srgbClr val="1E293B"/>
                          </a:solidFill>
                          <a:latin typeface="Calibri"/>
                        </a:rPr>
                        <a:t>Resolver problemas antes del despliegue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>
                          <a:solidFill>
                            <a:srgbClr val="1E293B"/>
                          </a:solidFill>
                          <a:latin typeface="Calibri"/>
                        </a:rPr>
                        <a:t>Diagnosticar, monitorear (latencia, costo, tokens, duración) y capturar feedback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828800">
                <a:tc>
                  <a:txBody>
                    <a:bodyPr wrap="square"/>
                    <a:lstStyle/>
                    <a:p>
                      <a:r>
                        <a:rPr sz="2600" b="1">
                          <a:solidFill>
                            <a:srgbClr val="1E293B"/>
                          </a:solidFill>
                          <a:latin typeface="Calibri"/>
                        </a:rPr>
                        <a:t>Cómo</a:t>
                      </a:r>
                    </a:p>
                  </a:txBody>
                  <a:tcPr anchor="ctr">
                    <a:solidFill>
                      <a:srgbClr val="E4E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>
                          <a:solidFill>
                            <a:srgbClr val="1E293B"/>
                          </a:solidFill>
                          <a:latin typeface="Calibri"/>
                        </a:rPr>
                        <a:t>Crear datasets, definir tareas y scores, correr experimentos y comparar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>
                          <a:solidFill>
                            <a:srgbClr val="1E293B"/>
                          </a:solidFill>
                          <a:latin typeface="Calibri"/>
                        </a:rPr>
                        <a:t>Trazar con proxy o SDK, filtrar y analizar logs, convertir logs en datasets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46100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200" b="1">
                <a:solidFill>
                  <a:srgbClr val="1E293B"/>
                </a:solidFill>
                <a:latin typeface="Calibri"/>
              </a:rPr>
              <a:t>Cómo empezar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4610080" cy="6766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600" b="0">
                <a:solidFill>
                  <a:srgbClr val="1E293B"/>
                </a:solidFill>
                <a:latin typeface="Calibri"/>
              </a:rPr>
              <a:t>•  </a:t>
            </a:r>
            <a:r>
              <a:rPr sz="3600" b="1">
                <a:solidFill>
                  <a:srgbClr val="1E293B"/>
                </a:solidFill>
                <a:latin typeface="Calibri"/>
              </a:rPr>
              <a:t>Empezá y creá una línea base (baseline)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E293B"/>
                </a:solidFill>
                <a:latin typeface="Calibri"/>
              </a:rPr>
              <a:t>•  No hace falta un «golden dataset» (casos de prueba ideales y curados) para arrancar</a:t>
            </a:r>
          </a:p>
          <a:p>
            <a:pPr>
              <a:spcAft>
                <a:spcPts val="1000"/>
              </a:spcAft>
            </a:pPr>
            <a:r>
              <a:rPr sz="3600" b="0">
                <a:solidFill>
                  <a:srgbClr val="1E293B"/>
                </a:solidFill>
                <a:latin typeface="Calibri"/>
              </a:rPr>
              <a:t>•  Establecé el fundamento y mejorá sobre él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46100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200" b="1">
                <a:solidFill>
                  <a:srgbClr val="1E293B"/>
                </a:solidFill>
                <a:latin typeface="Calibri"/>
              </a:rPr>
              <a:t>¿Qué debería mejorar?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2194560"/>
          <a:ext cx="14610079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5955"/>
                <a:gridCol w="5707062"/>
                <a:gridCol w="5707062"/>
              </a:tblGrid>
              <a:tr h="1645920">
                <a:tc>
                  <a:txBody>
                    <a:bodyPr wrap="square"/>
                    <a:lstStyle/>
                    <a:p>
                      <a:r>
                        <a:rPr sz="36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2F5D9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3600" b="1">
                          <a:solidFill>
                            <a:srgbClr val="FFFFFF"/>
                          </a:solidFill>
                          <a:latin typeface="Calibri"/>
                        </a:rPr>
                        <a:t>Score alto</a:t>
                      </a:r>
                    </a:p>
                  </a:txBody>
                  <a:tcPr anchor="ctr">
                    <a:solidFill>
                      <a:srgbClr val="2F5D9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3600" b="1">
                          <a:solidFill>
                            <a:srgbClr val="FFFFFF"/>
                          </a:solidFill>
                          <a:latin typeface="Calibri"/>
                        </a:rPr>
                        <a:t>Score bajo</a:t>
                      </a:r>
                    </a:p>
                  </a:txBody>
                  <a:tcPr anchor="ctr">
                    <a:solidFill>
                      <a:srgbClr val="2F5D9B"/>
                    </a:solidFill>
                  </a:tcPr>
                </a:tc>
              </a:tr>
              <a:tr h="1645920">
                <a:tc>
                  <a:txBody>
                    <a:bodyPr wrap="square"/>
                    <a:lstStyle/>
                    <a:p>
                      <a:r>
                        <a:rPr sz="3600" b="1">
                          <a:solidFill>
                            <a:srgbClr val="1E293B"/>
                          </a:solidFill>
                          <a:latin typeface="Calibri"/>
                        </a:rPr>
                        <a:t>Salida buena</a:t>
                      </a:r>
                    </a:p>
                  </a:txBody>
                  <a:tcPr anchor="ctr">
                    <a:solidFill>
                      <a:srgbClr val="E4E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3600" b="0">
                          <a:solidFill>
                            <a:srgbClr val="1E293B"/>
                          </a:solidFill>
                          <a:latin typeface="Calibri"/>
                        </a:rPr>
                        <a:t>Todo bien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3600" b="0">
                          <a:solidFill>
                            <a:srgbClr val="1E293B"/>
                          </a:solidFill>
                          <a:latin typeface="Calibri"/>
                        </a:rPr>
                        <a:t>Mejorar los evals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645920">
                <a:tc>
                  <a:txBody>
                    <a:bodyPr wrap="square"/>
                    <a:lstStyle/>
                    <a:p>
                      <a:r>
                        <a:rPr sz="3600" b="1">
                          <a:solidFill>
                            <a:srgbClr val="1E293B"/>
                          </a:solidFill>
                          <a:latin typeface="Calibri"/>
                        </a:rPr>
                        <a:t>Salida mala</a:t>
                      </a:r>
                    </a:p>
                  </a:txBody>
                  <a:tcPr anchor="ctr">
                    <a:solidFill>
                      <a:srgbClr val="E4E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3600" b="0">
                          <a:solidFill>
                            <a:srgbClr val="1E293B"/>
                          </a:solidFill>
                          <a:latin typeface="Calibri"/>
                        </a:rPr>
                        <a:t>Mejorar los evals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3600" b="0">
                          <a:solidFill>
                            <a:srgbClr val="1E293B"/>
                          </a:solidFill>
                          <a:latin typeface="Calibri"/>
                        </a:rPr>
                        <a:t>Mejorar la aplicación de 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46100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200" b="1">
                <a:solidFill>
                  <a:srgbClr val="1E293B"/>
                </a:solidFill>
                <a:latin typeface="Calibri"/>
              </a:rPr>
              <a:t>Dónde se prototipa y dónde se compara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4610080" cy="6766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0">
                <a:solidFill>
                  <a:srgbClr val="1E293B"/>
                </a:solidFill>
                <a:latin typeface="Calibri"/>
              </a:rPr>
              <a:t>•  </a:t>
            </a:r>
            <a:r>
              <a:rPr sz="3200" b="1">
                <a:solidFill>
                  <a:srgbClr val="1E293B"/>
                </a:solidFill>
                <a:latin typeface="Calibri"/>
              </a:rPr>
              <a:t>Playground (entorno de experimentación)</a:t>
            </a:r>
          </a:p>
          <a:p>
            <a:pPr>
              <a:spcAft>
                <a:spcPts val="1000"/>
              </a:spcAft>
            </a:pPr>
            <a:r>
              <a:rPr sz="2800" b="0">
                <a:solidFill>
                  <a:srgbClr val="1E293B"/>
                </a:solidFill>
                <a:latin typeface="Calibri"/>
              </a:rPr>
              <a:t>        –  Iteración rápida de prompts, agentes, scores y datasets</a:t>
            </a:r>
          </a:p>
          <a:p>
            <a:pPr>
              <a:spcAft>
                <a:spcPts val="1000"/>
              </a:spcAft>
            </a:pPr>
            <a:r>
              <a:rPr sz="2800" b="0">
                <a:solidFill>
                  <a:srgbClr val="1E293B"/>
                </a:solidFill>
                <a:latin typeface="Calibri"/>
              </a:rPr>
              <a:t>        –  Ideal para comparar prompts y modelos</a:t>
            </a:r>
          </a:p>
          <a:p>
            <a:pPr>
              <a:spcAft>
                <a:spcPts val="1000"/>
              </a:spcAft>
            </a:pPr>
            <a:r>
              <a:rPr sz="2800" b="0">
                <a:solidFill>
                  <a:srgbClr val="1E293B"/>
                </a:solidFill>
                <a:latin typeface="Calibri"/>
              </a:rPr>
              <a:t>        –  Al llegar a un buen punto: guardar una captura como experimento</a:t>
            </a:r>
          </a:p>
          <a:p>
            <a:pPr>
              <a:spcAft>
                <a:spcPts val="1000"/>
              </a:spcAft>
            </a:pPr>
            <a:r>
              <a:rPr sz="2800" b="0">
                <a:solidFill>
                  <a:srgbClr val="1E293B"/>
                </a:solidFill>
                <a:latin typeface="Calibri"/>
              </a:rPr>
              <a:t>        –  Lo usan desarrolladores, producto e incluso médicos (revisión humana)</a:t>
            </a:r>
          </a:p>
          <a:p>
            <a:pPr>
              <a:spcAft>
                <a:spcPts val="1000"/>
              </a:spcAft>
            </a:pPr>
            <a:r>
              <a:rPr sz="3200" b="0">
                <a:solidFill>
                  <a:srgbClr val="1E293B"/>
                </a:solidFill>
                <a:latin typeface="Calibri"/>
              </a:rPr>
              <a:t>•  </a:t>
            </a:r>
            <a:r>
              <a:rPr sz="3200" b="1">
                <a:solidFill>
                  <a:srgbClr val="1E293B"/>
                </a:solidFill>
                <a:latin typeface="Calibri"/>
              </a:rPr>
              <a:t>Experimentos</a:t>
            </a:r>
          </a:p>
          <a:p>
            <a:pPr>
              <a:spcAft>
                <a:spcPts val="1000"/>
              </a:spcAft>
            </a:pPr>
            <a:r>
              <a:rPr sz="2800" b="0">
                <a:solidFill>
                  <a:srgbClr val="1E293B"/>
                </a:solidFill>
                <a:latin typeface="Calibri"/>
              </a:rPr>
              <a:t>        –  Foto en el tiempo de cada evaluación</a:t>
            </a:r>
          </a:p>
          <a:p>
            <a:pPr>
              <a:spcAft>
                <a:spcPts val="1000"/>
              </a:spcAft>
            </a:pPr>
            <a:r>
              <a:rPr sz="2800" b="0">
                <a:solidFill>
                  <a:srgbClr val="1E293B"/>
                </a:solidFill>
                <a:latin typeface="Calibri"/>
              </a:rPr>
              <a:t>        –  Comparar corridas completas y sesiones pasadas</a:t>
            </a:r>
          </a:p>
          <a:p>
            <a:pPr>
              <a:spcAft>
                <a:spcPts val="1000"/>
              </a:spcAft>
            </a:pPr>
            <a:r>
              <a:rPr sz="2800" b="0">
                <a:solidFill>
                  <a:srgbClr val="1E293B"/>
                </a:solidFill>
                <a:latin typeface="Calibri"/>
              </a:rPr>
              <a:t>        –  ¿Estamos mejorando en el último mes?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46100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200" b="1">
                <a:solidFill>
                  <a:srgbClr val="1E293B"/>
                </a:solidFill>
                <a:latin typeface="Calibri"/>
              </a:rPr>
              <a:t>Para llevarse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4610080" cy="6766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0">
                <a:solidFill>
                  <a:srgbClr val="1E293B"/>
                </a:solidFill>
                <a:latin typeface="Calibri"/>
              </a:rPr>
              <a:t>1. Un eval es una prueba estructurada de calidad, confiabilidad y corrección</a:t>
            </a:r>
          </a:p>
          <a:p>
            <a:pPr>
              <a:spcAft>
                <a:spcPts val="1000"/>
              </a:spcAft>
            </a:pPr>
            <a:r>
              <a:rPr sz="3200" b="0">
                <a:solidFill>
                  <a:srgbClr val="1E293B"/>
                </a:solidFill>
                <a:latin typeface="Calibri"/>
              </a:rPr>
              <a:t>2. Tres pasos: tarea, datos, calificador</a:t>
            </a:r>
          </a:p>
          <a:p>
            <a:pPr>
              <a:spcAft>
                <a:spcPts val="1000"/>
              </a:spcAft>
            </a:pPr>
            <a:r>
              <a:rPr sz="3200" b="0">
                <a:solidFill>
                  <a:srgbClr val="1E293B"/>
                </a:solidFill>
                <a:latin typeface="Calibri"/>
              </a:rPr>
              <a:t>3. Offline para iterar · online para ver producción</a:t>
            </a:r>
          </a:p>
          <a:p>
            <a:pPr>
              <a:spcAft>
                <a:spcPts val="1000"/>
              </a:spcAft>
            </a:pPr>
            <a:r>
              <a:rPr sz="3200" b="0">
                <a:solidFill>
                  <a:srgbClr val="1E293B"/>
                </a:solidFill>
                <a:latin typeface="Calibri"/>
              </a:rPr>
              <a:t>4. Empezar con una línea base</a:t>
            </a:r>
          </a:p>
          <a:p>
            <a:pPr>
              <a:spcAft>
                <a:spcPts val="1000"/>
              </a:spcAft>
            </a:pPr>
            <a:r>
              <a:rPr sz="3200" b="0">
                <a:solidFill>
                  <a:srgbClr val="1E293B"/>
                </a:solidFill>
                <a:latin typeface="Calibri"/>
              </a:rPr>
              <a:t>5. Si score y realidad no coinciden, se arregla la medición; si coinciden y es malo, se arregla la app</a:t>
            </a:r>
          </a:p>
          <a:p>
            <a:pPr>
              <a:spcAft>
                <a:spcPts val="1000"/>
              </a:spcAft>
            </a:pPr>
            <a:r>
              <a:rPr sz="3200" b="0">
                <a:solidFill>
                  <a:srgbClr val="1E293B"/>
                </a:solidFill>
                <a:latin typeface="Calibri"/>
              </a:rPr>
              <a:t>6. Scores enfocados, con buen juez, probados</a:t>
            </a:r>
          </a:p>
          <a:p>
            <a:pPr>
              <a:spcAft>
                <a:spcPts val="1000"/>
              </a:spcAft>
            </a:pPr>
            <a:r>
              <a:rPr sz="3200" b="0">
                <a:solidFill>
                  <a:srgbClr val="1E293B"/>
                </a:solidFill>
                <a:latin typeface="Calibri"/>
              </a:rPr>
              <a:t>7. Producción alimenta los datasets: el ciclo se cierra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